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: susciter la curiosité avant de parler d'ADN. Laisser l'animation respirer, puis lancer la promesse de la semaine.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l'ADN : la cellule, l'évolution, l'hérédité. Insister sur le fait que ces idées ont mis des siècles à émerger, sans savoir encore ce qui les portait physiquement.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découverte de la structure de l'ADN et ce qu'elle a permis depuis. Pitch : comprendre l'ADN = comprendre la maladie, concevoir des médicaments, anticiper des résistances.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ADN -&gt; ARN -&gt; protéine, lu par triplets (codons). Montrer la cellule complète : le noyau copie l'ADN en ARNm, qui sort et rencontre un ribosome, qui traduit trois lettres à la fois en acides aminés enchaînés — la protéine. Une CDS code pour une protéine ; le reste est non-codant.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problème central de la semaine : une vraie tâche de recherche de gènes, pas un jouet.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Bascule vers la partie computationnelle : vous connaissez la biologie, voyons comment un modèle apprend à la reconnaître.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étapes : k-mer/CNN, embeddings Evo2, distillation, analyse d'efficacité. Piste bonus optionnelle : autoencodeur parcimonieux pour l'interprétabilité.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d'ensemble de la semaine. Insister : chaque jour construit sur le précédent, tout le monde repart avec un pipeline complet.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jour a une barre minimale claire, pas une notation fine — l'objectif est qu'aucun groupe ne reste bloqué en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Objectifs concrets de la semaine, formulés comme des questions auxquelles chacun saura répondre vendredi.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: lancer directement dans le notebook du jour 1, garder l'énergie de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362200"/>
            <a:ext cx="112654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ÉCOLE D'ÉTÉ IA · JOUR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145155"/>
            <a:ext cx="810101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915001" y="3145155"/>
            <a:ext cx="477361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2354263" y="3145155"/>
            <a:ext cx="917099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3233261" y="3145155"/>
            <a:ext cx="754063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3949224" y="3145155"/>
            <a:ext cx="917099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8100" dirty="0"/>
          </a:p>
        </p:txBody>
      </p:sp>
      <p:sp>
        <p:nvSpPr>
          <p:cNvPr id="8" name="Text 6"/>
          <p:cNvSpPr/>
          <p:nvPr/>
        </p:nvSpPr>
        <p:spPr>
          <a:xfrm>
            <a:off x="4828222" y="3145155"/>
            <a:ext cx="886778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8100" dirty="0"/>
          </a:p>
        </p:txBody>
      </p:sp>
      <p:sp>
        <p:nvSpPr>
          <p:cNvPr id="9" name="Text 7"/>
          <p:cNvSpPr/>
          <p:nvPr/>
        </p:nvSpPr>
        <p:spPr>
          <a:xfrm>
            <a:off x="5676900" y="3145155"/>
            <a:ext cx="477361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8100" dirty="0"/>
          </a:p>
        </p:txBody>
      </p:sp>
      <p:sp>
        <p:nvSpPr>
          <p:cNvPr id="10" name="Text 8"/>
          <p:cNvSpPr/>
          <p:nvPr/>
        </p:nvSpPr>
        <p:spPr>
          <a:xfrm>
            <a:off x="6116162" y="3145155"/>
            <a:ext cx="807561" cy="127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8100" dirty="0"/>
          </a:p>
        </p:txBody>
      </p:sp>
      <p:sp>
        <p:nvSpPr>
          <p:cNvPr id="11" name="Shape 9"/>
          <p:cNvSpPr/>
          <p:nvPr/>
        </p:nvSpPr>
        <p:spPr>
          <a:xfrm>
            <a:off x="15407640" y="223837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12" name="Shape 10"/>
          <p:cNvSpPr/>
          <p:nvPr/>
        </p:nvSpPr>
        <p:spPr>
          <a:xfrm>
            <a:off x="17217390" y="223837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13" name="Shape 11"/>
          <p:cNvSpPr/>
          <p:nvPr/>
        </p:nvSpPr>
        <p:spPr>
          <a:xfrm>
            <a:off x="15140940" y="275272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0690" y="275272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26590" y="3267075"/>
            <a:ext cx="285750" cy="28575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36340" y="3267075"/>
            <a:ext cx="285750" cy="28575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4188440" y="3781425"/>
            <a:ext cx="285750" cy="28575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998190" y="3781425"/>
            <a:ext cx="285750" cy="28575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19" name="Shape 17"/>
          <p:cNvSpPr/>
          <p:nvPr/>
        </p:nvSpPr>
        <p:spPr>
          <a:xfrm>
            <a:off x="14074140" y="429577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15883890" y="429577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217015" y="481012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26765" y="481012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23" name="Shape 21"/>
          <p:cNvSpPr/>
          <p:nvPr/>
        </p:nvSpPr>
        <p:spPr>
          <a:xfrm>
            <a:off x="14645640" y="5324475"/>
            <a:ext cx="285750" cy="28575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55390" y="5324475"/>
            <a:ext cx="285750" cy="28575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25" name="Shape 23"/>
          <p:cNvSpPr/>
          <p:nvPr/>
        </p:nvSpPr>
        <p:spPr>
          <a:xfrm>
            <a:off x="15121890" y="5838825"/>
            <a:ext cx="285750" cy="28575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31640" y="5838825"/>
            <a:ext cx="285750" cy="28575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5407640" y="635317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28" name="Shape 26"/>
          <p:cNvSpPr/>
          <p:nvPr/>
        </p:nvSpPr>
        <p:spPr>
          <a:xfrm>
            <a:off x="17217390" y="635317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29" name="Shape 27"/>
          <p:cNvSpPr/>
          <p:nvPr/>
        </p:nvSpPr>
        <p:spPr>
          <a:xfrm>
            <a:off x="15140940" y="686752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0690" y="686752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31" name="Shape 29"/>
          <p:cNvSpPr/>
          <p:nvPr/>
        </p:nvSpPr>
        <p:spPr>
          <a:xfrm>
            <a:off x="15407640" y="738187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32" name="Shape 30"/>
          <p:cNvSpPr/>
          <p:nvPr/>
        </p:nvSpPr>
        <p:spPr>
          <a:xfrm>
            <a:off x="17217390" y="738187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33" name="Shape 31"/>
          <p:cNvSpPr/>
          <p:nvPr/>
        </p:nvSpPr>
        <p:spPr>
          <a:xfrm>
            <a:off x="15140940" y="789622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34" name="Shape 32"/>
          <p:cNvSpPr/>
          <p:nvPr/>
        </p:nvSpPr>
        <p:spPr>
          <a:xfrm>
            <a:off x="16950690" y="789622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35" name="Shape 33"/>
          <p:cNvSpPr/>
          <p:nvPr/>
        </p:nvSpPr>
        <p:spPr>
          <a:xfrm>
            <a:off x="14626590" y="8410575"/>
            <a:ext cx="285750" cy="28575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36340" y="8410575"/>
            <a:ext cx="285750" cy="28575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4188440" y="8924925"/>
            <a:ext cx="285750" cy="28575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5998190" y="8924925"/>
            <a:ext cx="285750" cy="28575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39" name="Shape 37"/>
          <p:cNvSpPr/>
          <p:nvPr/>
        </p:nvSpPr>
        <p:spPr>
          <a:xfrm>
            <a:off x="14074140" y="943927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40" name="Shape 38"/>
          <p:cNvSpPr/>
          <p:nvPr/>
        </p:nvSpPr>
        <p:spPr>
          <a:xfrm>
            <a:off x="15883890" y="943927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41" name="Shape 39"/>
          <p:cNvSpPr/>
          <p:nvPr/>
        </p:nvSpPr>
        <p:spPr>
          <a:xfrm>
            <a:off x="14217015" y="9953625"/>
            <a:ext cx="285750" cy="28575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42" name="Shape 40"/>
          <p:cNvSpPr/>
          <p:nvPr/>
        </p:nvSpPr>
        <p:spPr>
          <a:xfrm>
            <a:off x="16026765" y="9953625"/>
            <a:ext cx="285750" cy="28575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43" name="Shape 41"/>
          <p:cNvSpPr/>
          <p:nvPr/>
        </p:nvSpPr>
        <p:spPr>
          <a:xfrm>
            <a:off x="14645640" y="10467975"/>
            <a:ext cx="285750" cy="28575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6455390" y="10467975"/>
            <a:ext cx="285750" cy="28575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45" name="Shape 43"/>
          <p:cNvSpPr/>
          <p:nvPr/>
        </p:nvSpPr>
        <p:spPr>
          <a:xfrm>
            <a:off x="15121890" y="10982325"/>
            <a:ext cx="285750" cy="28575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46" name="Shape 44"/>
          <p:cNvSpPr/>
          <p:nvPr/>
        </p:nvSpPr>
        <p:spPr>
          <a:xfrm>
            <a:off x="16931640" y="10982325"/>
            <a:ext cx="285750" cy="28575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4470856" y="9163050"/>
            <a:ext cx="2635568" cy="590550"/>
          </a:xfrm>
          <a:prstGeom prst="roundRect">
            <a:avLst>
              <a:gd name="adj" fmla="val 50000"/>
            </a:avLst>
          </a:prstGeom>
          <a:solidFill>
            <a:srgbClr val="0B071C">
              <a:alpha val="70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728031" y="9382125"/>
            <a:ext cx="152400" cy="15240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49" name="Text 47"/>
          <p:cNvSpPr/>
          <p:nvPr/>
        </p:nvSpPr>
        <p:spPr>
          <a:xfrm>
            <a:off x="14956631" y="9305925"/>
            <a:ext cx="2227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312707" y="9382125"/>
            <a:ext cx="152400" cy="15240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51" name="Text 49"/>
          <p:cNvSpPr/>
          <p:nvPr/>
        </p:nvSpPr>
        <p:spPr>
          <a:xfrm>
            <a:off x="15541307" y="9305925"/>
            <a:ext cx="2070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881668" y="9382125"/>
            <a:ext cx="152400" cy="15240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53" name="Text 51"/>
          <p:cNvSpPr/>
          <p:nvPr/>
        </p:nvSpPr>
        <p:spPr>
          <a:xfrm>
            <a:off x="16110268" y="9305925"/>
            <a:ext cx="2181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6461739" y="9382125"/>
            <a:ext cx="152400" cy="15240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55" name="Text 53"/>
          <p:cNvSpPr/>
          <p:nvPr/>
        </p:nvSpPr>
        <p:spPr>
          <a:xfrm>
            <a:off x="16690339" y="9305925"/>
            <a:ext cx="2351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D'OÙ VIENT LA BIOLOGIE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25730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histoire du vivant, bien avant l'ADN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50770"/>
            <a:ext cx="10301288" cy="900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Longtemps avant de savoir </a:t>
            </a:r>
            <a:pPr algn="l" indent="0" marL="0">
              <a:lnSpc>
                <a:spcPct val="128571"/>
              </a:lnSpc>
              <a:buNone/>
            </a:pPr>
            <a:r>
              <a:rPr lang="en-US" sz="2250" i="1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</a:t>
            </a:r>
            <a:pPr algn="l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l'information du vivant était rangée, les scientifiques savaient déjà qu'elle existait — et qu'elle obéissait à des règles.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3746182"/>
            <a:ext cx="5130800" cy="5778818"/>
          </a:xfrm>
          <a:prstGeom prst="roundRect">
            <a:avLst>
              <a:gd name="adj" fmla="val 3713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4475" y="4174807"/>
            <a:ext cx="4826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14475" y="4612957"/>
            <a:ext cx="482663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cellule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514475" y="5134927"/>
            <a:ext cx="451948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Hooke observe au microscope de fines cavités dans du liège et les nomme « cellules ». Le vivant a une unité de base.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78600" y="3746182"/>
            <a:ext cx="5130800" cy="5778818"/>
          </a:xfrm>
          <a:prstGeom prst="roundRect">
            <a:avLst>
              <a:gd name="adj" fmla="val 3713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0075" y="4174807"/>
            <a:ext cx="4826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50075" y="4612957"/>
            <a:ext cx="482663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L'évolution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6950075" y="5134927"/>
            <a:ext cx="4519485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Darwin décrit la sélection naturelle : le vivant se transforme, et ce qui se transmet le mieux se répand.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14200" y="3746182"/>
            <a:ext cx="5130800" cy="5778818"/>
          </a:xfrm>
          <a:prstGeom prst="roundRect">
            <a:avLst>
              <a:gd name="adj" fmla="val 3713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5675" y="4174807"/>
            <a:ext cx="4826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85675" y="4612957"/>
            <a:ext cx="482663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L'hérédité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385675" y="5134927"/>
            <a:ext cx="451948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Mendel, en croisant des petits pois, montre que des « facteurs » invisibles transmettent des traits précis, génération après génération.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TOURNANT DU XXE SIÈCLE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362075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double hélice à la médecine de demain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715000" y="4363879"/>
            <a:ext cx="933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EC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1953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762750" y="4301966"/>
            <a:ext cx="1069371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E4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Watson, Crick — et les données de diffraction de Rosalind Franklin — révèlent la double hélice de l'ADN.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715000" y="5411629"/>
            <a:ext cx="9334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EC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2003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762750" y="5349716"/>
            <a:ext cx="82105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E4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génome humain est entièrement séquencé, lettre par lettre.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715000" y="6064091"/>
            <a:ext cx="9963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DEC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Aujourd'hui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825615" y="6002179"/>
            <a:ext cx="1062896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E4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modèles apprennent à lire l'ADN à grande échelle : repérer un gène défaillant, concevoir un médicament sur mesure, anticiper une résistance.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715000" y="7145179"/>
            <a:ext cx="12573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2250" b="1" dirty="0">
                <a:solidFill>
                  <a:srgbClr val="F5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Cette semaine, vous allez toucher cette mécanique du doigt.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MÉCANIQUE DU VIVANT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7602200" cy="760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dogme central : ADN → ARN → protéine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2074545"/>
            <a:ext cx="13735050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noyau, une portion d'ADN est copiée en ARN messager ; l'ARNm sort et un ribosome le traduit, trois lettres (un codon) à la fois, en une chaîne d'acides aminés qui se replie : la protéine.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143000" y="2878455"/>
            <a:ext cx="4210209" cy="6014085"/>
          </a:xfrm>
          <a:prstGeom prst="roundRect">
            <a:avLst>
              <a:gd name="adj" fmla="val 6335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46079" y="5759768"/>
            <a:ext cx="180405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Noyau — l'ADN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85873" y="6209348"/>
            <a:ext cx="392446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L'archive complète, dans chaque cellule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0444" y="5509260"/>
            <a:ext cx="3155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393238" y="5956935"/>
            <a:ext cx="16339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" kern="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067233" y="2878455"/>
            <a:ext cx="4210209" cy="6014085"/>
          </a:xfrm>
          <a:prstGeom prst="roundRect">
            <a:avLst>
              <a:gd name="adj" fmla="val 6335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38808" y="5064443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00D1D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15033" y="5254943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F378CE"/>
          </a:solidFill>
          <a:ln/>
        </p:spPr>
      </p:sp>
      <p:sp>
        <p:nvSpPr>
          <p:cNvPr id="13" name="Shape 11"/>
          <p:cNvSpPr/>
          <p:nvPr/>
        </p:nvSpPr>
        <p:spPr>
          <a:xfrm>
            <a:off x="8791258" y="5064443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F0BA59"/>
          </a:solidFill>
          <a:ln/>
        </p:spPr>
      </p:sp>
      <p:sp>
        <p:nvSpPr>
          <p:cNvPr id="14" name="Shape 12"/>
          <p:cNvSpPr/>
          <p:nvPr/>
        </p:nvSpPr>
        <p:spPr>
          <a:xfrm>
            <a:off x="9067483" y="5254943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A49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343708" y="5064443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00D1D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19933" y="5254943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F378CE"/>
          </a:solidFill>
          <a:ln/>
        </p:spPr>
      </p:sp>
      <p:sp>
        <p:nvSpPr>
          <p:cNvPr id="17" name="Shape 15"/>
          <p:cNvSpPr/>
          <p:nvPr/>
        </p:nvSpPr>
        <p:spPr>
          <a:xfrm>
            <a:off x="9896158" y="5064443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F0BA59"/>
          </a:solidFill>
          <a:ln/>
        </p:spPr>
      </p:sp>
      <p:sp>
        <p:nvSpPr>
          <p:cNvPr id="18" name="Text 16"/>
          <p:cNvSpPr/>
          <p:nvPr/>
        </p:nvSpPr>
        <p:spPr>
          <a:xfrm>
            <a:off x="8289179" y="5521643"/>
            <a:ext cx="176615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ARN messager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210105" y="5971223"/>
            <a:ext cx="392446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copie mobile, lue par codons de 3 lettres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986418" y="5509260"/>
            <a:ext cx="3155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446042" y="5956935"/>
            <a:ext cx="13199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" kern="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34792" y="2878455"/>
            <a:ext cx="4210209" cy="6014085"/>
          </a:xfrm>
          <a:prstGeom prst="roundRect">
            <a:avLst>
              <a:gd name="adj" fmla="val 6335"/>
            </a:avLst>
          </a:prstGeom>
          <a:ln w="9525">
            <a:solidFill>
              <a:srgbClr val="B6A8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325442" y="4788218"/>
            <a:ext cx="1428750" cy="361950"/>
          </a:xfrm>
          <a:prstGeom prst="roundRect">
            <a:avLst>
              <a:gd name="adj" fmla="val 50000"/>
            </a:avLst>
          </a:prstGeom>
          <a:solidFill>
            <a:srgbClr val="3A3558"/>
          </a:solidFill>
          <a:ln/>
        </p:spPr>
      </p:sp>
      <p:sp>
        <p:nvSpPr>
          <p:cNvPr id="24" name="Shape 22"/>
          <p:cNvSpPr/>
          <p:nvPr/>
        </p:nvSpPr>
        <p:spPr>
          <a:xfrm>
            <a:off x="14230192" y="5073968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4D4671"/>
          </a:solidFill>
          <a:ln/>
        </p:spPr>
      </p:sp>
      <p:sp>
        <p:nvSpPr>
          <p:cNvPr id="25" name="Shape 23"/>
          <p:cNvSpPr/>
          <p:nvPr/>
        </p:nvSpPr>
        <p:spPr>
          <a:xfrm>
            <a:off x="14363542" y="5521643"/>
            <a:ext cx="228600" cy="228600"/>
          </a:xfrm>
          <a:prstGeom prst="ellipse">
            <a:avLst/>
          </a:prstGeom>
          <a:solidFill>
            <a:srgbClr val="00D1DA"/>
          </a:solidFill>
          <a:ln/>
        </p:spPr>
      </p:sp>
      <p:sp>
        <p:nvSpPr>
          <p:cNvPr id="26" name="Shape 24"/>
          <p:cNvSpPr/>
          <p:nvPr/>
        </p:nvSpPr>
        <p:spPr>
          <a:xfrm>
            <a:off x="14630242" y="5407343"/>
            <a:ext cx="228600" cy="228600"/>
          </a:xfrm>
          <a:prstGeom prst="ellipse">
            <a:avLst/>
          </a:prstGeom>
          <a:solidFill>
            <a:srgbClr val="F378CE"/>
          </a:solidFill>
          <a:ln/>
        </p:spPr>
      </p:sp>
      <p:sp>
        <p:nvSpPr>
          <p:cNvPr id="27" name="Shape 25"/>
          <p:cNvSpPr/>
          <p:nvPr/>
        </p:nvSpPr>
        <p:spPr>
          <a:xfrm>
            <a:off x="14896942" y="5578793"/>
            <a:ext cx="228600" cy="228600"/>
          </a:xfrm>
          <a:prstGeom prst="ellipse">
            <a:avLst/>
          </a:prstGeom>
          <a:solidFill>
            <a:srgbClr val="F0BA59"/>
          </a:solidFill>
          <a:ln/>
        </p:spPr>
      </p:sp>
      <p:sp>
        <p:nvSpPr>
          <p:cNvPr id="28" name="Shape 26"/>
          <p:cNvSpPr/>
          <p:nvPr/>
        </p:nvSpPr>
        <p:spPr>
          <a:xfrm>
            <a:off x="15163642" y="5388293"/>
            <a:ext cx="228600" cy="228600"/>
          </a:xfrm>
          <a:prstGeom prst="ellipse">
            <a:avLst/>
          </a:prstGeom>
          <a:solidFill>
            <a:srgbClr val="A490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5430342" y="5512118"/>
            <a:ext cx="285750" cy="285750"/>
          </a:xfrm>
          <a:prstGeom prst="ellipse">
            <a:avLst/>
          </a:prstGeom>
          <a:solidFill>
            <a:srgbClr val="DECEFF"/>
          </a:solidFill>
          <a:ln/>
        </p:spPr>
      </p:sp>
      <p:sp>
        <p:nvSpPr>
          <p:cNvPr id="30" name="Text 28"/>
          <p:cNvSpPr/>
          <p:nvPr/>
        </p:nvSpPr>
        <p:spPr>
          <a:xfrm>
            <a:off x="14526102" y="5912168"/>
            <a:ext cx="102758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Protéine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3077664" y="6342698"/>
            <a:ext cx="3924463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DC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chaîne d'acides aminés repliée : enzyme, transport, structure…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43000" y="8959215"/>
            <a:ext cx="7886700" cy="718185"/>
          </a:xfrm>
          <a:prstGeom prst="roundRect">
            <a:avLst>
              <a:gd name="adj" fmla="val 21220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19225" y="9203055"/>
            <a:ext cx="5497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026126" y="9159240"/>
            <a:ext cx="39723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réellement pour une protéine.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258300" y="8959215"/>
            <a:ext cx="7886700" cy="718185"/>
          </a:xfrm>
          <a:prstGeom prst="roundRect">
            <a:avLst>
              <a:gd name="adj" fmla="val 21220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34525" y="9203055"/>
            <a:ext cx="131510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AA6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Non-codant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863421" y="9159240"/>
            <a:ext cx="63629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D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l'immense majorité du génome, sans protéine à la sortie.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0607" y="3049905"/>
            <a:ext cx="74266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VRAIE QUESTION DE BIO-INFORMATIQUE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76475" y="3811905"/>
            <a:ext cx="13735050" cy="1786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710"/>
              </a:lnSpc>
              <a:buNone/>
            </a:pPr>
            <a:r>
              <a:rPr lang="en-US" sz="5100" i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Face à une courte fenêtre d'ADN, quelques centaines de lettres — est-elle codante, ou non ? »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3748087" y="6094095"/>
            <a:ext cx="10791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571"/>
              </a:lnSpc>
              <a:buNone/>
            </a:pPr>
            <a:r>
              <a:rPr lang="en-US" sz="225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exactement la question que résout un logiciel de recherche de gènes. Cette semaine, vous construisez votre propre réponse — et vous la mesurez.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92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52433" y="3707130"/>
            <a:ext cx="15829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432" kern="0" dirty="0">
                <a:solidFill>
                  <a:srgbClr val="D6D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400486" y="4316730"/>
            <a:ext cx="9487027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4F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à l'informatique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3748087" y="5608320"/>
            <a:ext cx="107918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769"/>
              </a:lnSpc>
              <a:buNone/>
            </a:pPr>
            <a:r>
              <a:rPr lang="en-US" sz="2550" dirty="0">
                <a:solidFill>
                  <a:srgbClr val="DDD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savez maintenant ce qu'est l'ADN codant. Voyons comment un modèle apprend, lui, à le reconnaître.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PARCOURS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362075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étapes, une seule histoire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31770"/>
            <a:ext cx="3539807" cy="5507355"/>
          </a:xfrm>
          <a:prstGeom prst="roundRect">
            <a:avLst>
              <a:gd name="adj" fmla="val 4843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9225" y="3084195"/>
            <a:ext cx="32860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9225" y="3503295"/>
            <a:ext cx="328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k-mer + CNN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19225" y="3960495"/>
            <a:ext cx="3076978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de référence simples, à partir de comptages de sous-séquences.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54257" y="5275898"/>
            <a:ext cx="347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297012" y="2731770"/>
            <a:ext cx="3539966" cy="5507355"/>
          </a:xfrm>
          <a:prstGeom prst="roundRect">
            <a:avLst>
              <a:gd name="adj" fmla="val 4843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3237" y="3084195"/>
            <a:ext cx="32862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3237" y="3503295"/>
            <a:ext cx="32862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 Evo2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573237" y="3960495"/>
            <a:ext cx="3077142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représentations gelées d'un modèle de fondation génomique.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08427" y="5275898"/>
            <a:ext cx="347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451181" y="2731770"/>
            <a:ext cx="3539807" cy="5507355"/>
          </a:xfrm>
          <a:prstGeom prst="roundRect">
            <a:avLst>
              <a:gd name="adj" fmla="val 4843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7406" y="3084195"/>
            <a:ext cx="32860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27406" y="3503295"/>
            <a:ext cx="328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Distillation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727406" y="3960495"/>
            <a:ext cx="3076978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Compresser ce savoir dans un modèle student minuscule et rapide.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162438" y="5275898"/>
            <a:ext cx="3475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3605193" y="2731770"/>
            <a:ext cx="3539807" cy="5507355"/>
          </a:xfrm>
          <a:prstGeom prst="roundRect">
            <a:avLst>
              <a:gd name="adj" fmla="val 4843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81418" y="3084195"/>
            <a:ext cx="32860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881418" y="3503295"/>
            <a:ext cx="32860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Efficacité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881418" y="3960495"/>
            <a:ext cx="3076978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Précision, latence, taille : que déploieriez-vous réellement ?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3000" y="8620125"/>
            <a:ext cx="16002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8905875"/>
            <a:ext cx="169481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PISTE BONUS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914015" y="8896350"/>
            <a:ext cx="1465791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DC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Autoencodeurs parcimonieux — les représentations encodent-elles la périodicité des codons ? Une fenêtre ouverte sur l'interprétabilité.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FEUILLE DE ROUTE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76022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jours, un seul pipeline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55570"/>
            <a:ext cx="5181600" cy="3320415"/>
          </a:xfrm>
          <a:prstGeom prst="roundRect">
            <a:avLst>
              <a:gd name="adj" fmla="val 5164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2969895"/>
            <a:ext cx="1209199" cy="419100"/>
          </a:xfrm>
          <a:prstGeom prst="roundRect">
            <a:avLst>
              <a:gd name="adj" fmla="val 50000"/>
            </a:avLst>
          </a:prstGeom>
          <a:solidFill>
            <a:srgbClr val="B6A8FF"/>
          </a:solidFill>
          <a:ln/>
        </p:spPr>
      </p:sp>
      <p:sp>
        <p:nvSpPr>
          <p:cNvPr id="6" name="Text 4"/>
          <p:cNvSpPr/>
          <p:nvPr/>
        </p:nvSpPr>
        <p:spPr>
          <a:xfrm>
            <a:off x="1609725" y="3027045"/>
            <a:ext cx="9805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D0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7325" y="3541395"/>
            <a:ext cx="50082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Biologie + modèles de référence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57325" y="3945255"/>
            <a:ext cx="468953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Dogme central, données brutes, k-mer + régression, CNN.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53200" y="2655570"/>
            <a:ext cx="5181600" cy="3320415"/>
          </a:xfrm>
          <a:prstGeom prst="roundRect">
            <a:avLst>
              <a:gd name="adj" fmla="val 5164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67525" y="2969895"/>
            <a:ext cx="1209199" cy="419100"/>
          </a:xfrm>
          <a:prstGeom prst="roundRect">
            <a:avLst>
              <a:gd name="adj" fmla="val 50000"/>
            </a:avLst>
          </a:prstGeom>
          <a:solidFill>
            <a:srgbClr val="B6A8FF"/>
          </a:solidFill>
          <a:ln/>
        </p:spPr>
      </p:sp>
      <p:sp>
        <p:nvSpPr>
          <p:cNvPr id="11" name="Text 9"/>
          <p:cNvSpPr/>
          <p:nvPr/>
        </p:nvSpPr>
        <p:spPr>
          <a:xfrm>
            <a:off x="7019925" y="3027045"/>
            <a:ext cx="9805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D0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67525" y="3541395"/>
            <a:ext cx="50082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 Evo2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867525" y="3945255"/>
            <a:ext cx="468953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Représentations gelées + tête de classification, visualisation.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963400" y="2655570"/>
            <a:ext cx="5181600" cy="3320415"/>
          </a:xfrm>
          <a:prstGeom prst="roundRect">
            <a:avLst>
              <a:gd name="adj" fmla="val 5164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77725" y="2969895"/>
            <a:ext cx="1209199" cy="419100"/>
          </a:xfrm>
          <a:prstGeom prst="roundRect">
            <a:avLst>
              <a:gd name="adj" fmla="val 50000"/>
            </a:avLst>
          </a:prstGeom>
          <a:solidFill>
            <a:srgbClr val="B6A8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430125" y="3027045"/>
            <a:ext cx="9805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D0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77725" y="3541395"/>
            <a:ext cx="50082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Distillation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277725" y="3945255"/>
            <a:ext cx="468953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Cibles douces, température — compresser le teacher en student.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6204585"/>
            <a:ext cx="5181600" cy="3320415"/>
          </a:xfrm>
          <a:prstGeom prst="roundRect">
            <a:avLst>
              <a:gd name="adj" fmla="val 5164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57325" y="6518910"/>
            <a:ext cx="1209199" cy="419100"/>
          </a:xfrm>
          <a:prstGeom prst="roundRect">
            <a:avLst>
              <a:gd name="adj" fmla="val 50000"/>
            </a:avLst>
          </a:prstGeom>
          <a:solidFill>
            <a:srgbClr val="B6A8FF"/>
          </a:solidFill>
          <a:ln/>
        </p:spPr>
      </p:sp>
      <p:sp>
        <p:nvSpPr>
          <p:cNvPr id="21" name="Text 19"/>
          <p:cNvSpPr/>
          <p:nvPr/>
        </p:nvSpPr>
        <p:spPr>
          <a:xfrm>
            <a:off x="1609725" y="6576060"/>
            <a:ext cx="9805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D0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57325" y="7090410"/>
            <a:ext cx="50082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d'efficacité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457325" y="7494270"/>
            <a:ext cx="468953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graphique, tous les modèles : précision vs. latence vs. taille.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53200" y="6204585"/>
            <a:ext cx="5181600" cy="3320415"/>
          </a:xfrm>
          <a:prstGeom prst="roundRect">
            <a:avLst>
              <a:gd name="adj" fmla="val 5164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67525" y="6518910"/>
            <a:ext cx="1209199" cy="419100"/>
          </a:xfrm>
          <a:prstGeom prst="roundRect">
            <a:avLst>
              <a:gd name="adj" fmla="val 50000"/>
            </a:avLst>
          </a:prstGeom>
          <a:solidFill>
            <a:srgbClr val="B6A8FF"/>
          </a:solidFill>
          <a:ln/>
        </p:spPr>
      </p:sp>
      <p:sp>
        <p:nvSpPr>
          <p:cNvPr id="26" name="Text 24"/>
          <p:cNvSpPr/>
          <p:nvPr/>
        </p:nvSpPr>
        <p:spPr>
          <a:xfrm>
            <a:off x="7019925" y="6576060"/>
            <a:ext cx="9805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D0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67525" y="7090410"/>
            <a:ext cx="50082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+ présentations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6867525" y="7494270"/>
            <a:ext cx="468953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Interprétabilité par autoencodeur, puis présentations de groupe.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963400" y="6204585"/>
            <a:ext cx="5181600" cy="3320415"/>
          </a:xfrm>
          <a:prstGeom prst="roundRect">
            <a:avLst>
              <a:gd name="adj" fmla="val 5164"/>
            </a:avLst>
          </a:prstGeom>
          <a:ln w="9525">
            <a:solidFill>
              <a:srgbClr val="DECE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277725" y="6518910"/>
            <a:ext cx="1544479" cy="419100"/>
          </a:xfrm>
          <a:prstGeom prst="roundRect">
            <a:avLst>
              <a:gd name="adj" fmla="val 50000"/>
            </a:avLst>
          </a:prstGeom>
          <a:solidFill>
            <a:srgbClr val="DECE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430125" y="6576060"/>
            <a:ext cx="13158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150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277725" y="7090410"/>
            <a:ext cx="5008245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modèle à déployer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12277725" y="7494270"/>
            <a:ext cx="468953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DDD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Repartir avec un avis chiffré : que déploieriez-vous réellement 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REPÈRES, PAS NOTATION FINE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76022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saurez-vous que ça marche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55570"/>
            <a:ext cx="16002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484245"/>
            <a:ext cx="1600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14650"/>
            <a:ext cx="1466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857500" y="2912745"/>
            <a:ext cx="15716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4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régression logistique sur k-mer tourne de bout en bout, avec un vrai chiffre.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4312920"/>
            <a:ext cx="1600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743325"/>
            <a:ext cx="1466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857500" y="3741420"/>
            <a:ext cx="15716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4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classifieur sur embeddings Evo2 bat les modèles de référence du jour 1.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3000" y="5141595"/>
            <a:ext cx="1600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572000"/>
            <a:ext cx="1466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857500" y="4570095"/>
            <a:ext cx="15716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4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student distillé, nettement plus petit et rapide que le teacher.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43000" y="5970270"/>
            <a:ext cx="1600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400675"/>
            <a:ext cx="1466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6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857500" y="5398770"/>
            <a:ext cx="15716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4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graphique d'efficacité avec au moins les modèles de référence, le teacher et le student.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6229350"/>
            <a:ext cx="14668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EC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 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857500" y="6227445"/>
            <a:ext cx="15716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4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Bonus, non noté : une exploration tentée sur les autoencodeurs compte déjà comme réussite.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B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D'ICI VENDREDI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66850"/>
            <a:ext cx="17602200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vous allez apprendre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55570"/>
            <a:ext cx="7867650" cy="3301365"/>
          </a:xfrm>
          <a:prstGeom prst="roundRect">
            <a:avLst>
              <a:gd name="adj" fmla="val 5770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3046095"/>
            <a:ext cx="7795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qu'un modèle de fondation ?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33525" y="3522345"/>
            <a:ext cx="729919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entraîné une fois sur d'énormes données, dont les représentations se réutilisent pour de nouvelles tâches.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277350" y="2655570"/>
            <a:ext cx="7867650" cy="3301365"/>
          </a:xfrm>
          <a:prstGeom prst="roundRect">
            <a:avLst>
              <a:gd name="adj" fmla="val 5770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7875" y="3046095"/>
            <a:ext cx="7795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distiller un modèle ?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67875" y="3522345"/>
            <a:ext cx="729919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 qu'en pratique, la latence et le coût comptent autant que la précision.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6223635"/>
            <a:ext cx="7867650" cy="3301365"/>
          </a:xfrm>
          <a:prstGeom prst="roundRect">
            <a:avLst>
              <a:gd name="adj" fmla="val 5770"/>
            </a:avLst>
          </a:prstGeom>
          <a:solidFill>
            <a:srgbClr val="1D1735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3525" y="6614160"/>
            <a:ext cx="7795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comparer des modèles honnêtement ?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33525" y="7090410"/>
            <a:ext cx="729919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Précision, latence et taille, ensemble, sur un même graphique — jamais un seul chiffre isolé.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77350" y="6223635"/>
            <a:ext cx="7867650" cy="3301365"/>
          </a:xfrm>
          <a:prstGeom prst="roundRect">
            <a:avLst>
              <a:gd name="adj" fmla="val 5770"/>
            </a:avLst>
          </a:prstGeom>
          <a:ln w="9525">
            <a:solidFill>
              <a:srgbClr val="B6A8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67875" y="6614160"/>
            <a:ext cx="7795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déploieriez-vous réellement ?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67875" y="7090410"/>
            <a:ext cx="729919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CDC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compromis est une décision. Vous saurez en défendre une, avec des chiffres à l'appui.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335" y="3188018"/>
            <a:ext cx="20113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60" kern="0" dirty="0">
                <a:solidFill>
                  <a:srgbClr val="DEC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PARTI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41311" y="3759518"/>
            <a:ext cx="14205220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5F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Jour 1 commence maintenant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3748087" y="4993957"/>
            <a:ext cx="1079182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A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Ouvrez les génomes bruts, explorez les données, et entraînez votre premier modèle de référence — avant midi.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46415" y="6556057"/>
            <a:ext cx="71951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0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Jour 1 · Biologie &amp; mise en place des données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2026-07-10T21:15:10Z</dcterms:created>
  <dcterms:modified xsi:type="dcterms:W3CDTF">2026-07-10T21:15:10Z</dcterms:modified>
</cp:coreProperties>
</file>